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4" r:id="rId9"/>
    <p:sldId id="265" r:id="rId10"/>
    <p:sldId id="261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15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97243"/>
            <a:ext cx="9144000" cy="484007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100" y="658104"/>
            <a:ext cx="1339420" cy="1339420"/>
          </a:xfrm>
          <a:prstGeom prst="rect">
            <a:avLst/>
          </a:prstGeom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5" name="Text 2"/>
          <p:cNvSpPr/>
          <p:nvPr/>
        </p:nvSpPr>
        <p:spPr>
          <a:xfrm>
            <a:off x="2871216" y="1963674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HealthSense AI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78104" y="2384298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871216" y="24181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Clinical Intelligence</a:t>
            </a:r>
            <a:endParaRPr lang="en-US" sz="11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4F3BE28B-CD93-A39A-F769-8F4B69B133D7}"/>
              </a:ext>
            </a:extLst>
          </p:cNvPr>
          <p:cNvSpPr/>
          <p:nvPr/>
        </p:nvSpPr>
        <p:spPr>
          <a:xfrm>
            <a:off x="2260677" y="2954566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00296C5D-12FD-B47A-60FC-AD38CADF72AB}"/>
              </a:ext>
            </a:extLst>
          </p:cNvPr>
          <p:cNvSpPr/>
          <p:nvPr/>
        </p:nvSpPr>
        <p:spPr>
          <a:xfrm>
            <a:off x="2211442" y="2957907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Diagnostics</a:t>
            </a:r>
            <a:endParaRPr lang="en-US" sz="1150" dirty="0"/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0EB29B11-6E4E-AF27-BC63-2852A813DA88}"/>
              </a:ext>
            </a:extLst>
          </p:cNvPr>
          <p:cNvSpPr>
            <a:spLocks/>
          </p:cNvSpPr>
          <p:nvPr/>
        </p:nvSpPr>
        <p:spPr>
          <a:xfrm>
            <a:off x="4670475" y="2946651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D5922CFD-642A-1A00-A6D0-A829FF83251B}"/>
              </a:ext>
            </a:extLst>
          </p:cNvPr>
          <p:cNvSpPr/>
          <p:nvPr/>
        </p:nvSpPr>
        <p:spPr>
          <a:xfrm>
            <a:off x="4659219" y="29513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Wellness Plans</a:t>
            </a:r>
            <a:endParaRPr lang="en-US" sz="1150" dirty="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076B7A40-4DD1-FF3C-12FF-3460490701E3}"/>
              </a:ext>
            </a:extLst>
          </p:cNvPr>
          <p:cNvSpPr/>
          <p:nvPr/>
        </p:nvSpPr>
        <p:spPr>
          <a:xfrm>
            <a:off x="2274747" y="3347406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D60D2EC1-705D-B119-1A85-1AEE63F9D4C0}"/>
              </a:ext>
            </a:extLst>
          </p:cNvPr>
          <p:cNvSpPr/>
          <p:nvPr/>
        </p:nvSpPr>
        <p:spPr>
          <a:xfrm>
            <a:off x="2274747" y="334740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Tracking</a:t>
            </a:r>
            <a:endParaRPr lang="en-US" sz="1150" dirty="0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FE62C585-21A0-C8D6-0354-51DA225E6201}"/>
              </a:ext>
            </a:extLst>
          </p:cNvPr>
          <p:cNvSpPr/>
          <p:nvPr/>
        </p:nvSpPr>
        <p:spPr>
          <a:xfrm>
            <a:off x="4670475" y="3347406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912A53D-D341-6118-FC41-8F78E1CACB4F}"/>
              </a:ext>
            </a:extLst>
          </p:cNvPr>
          <p:cNvSpPr/>
          <p:nvPr/>
        </p:nvSpPr>
        <p:spPr>
          <a:xfrm>
            <a:off x="4670475" y="334740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5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797799-162B-6D43-4415-71B0632205BD}"/>
              </a:ext>
            </a:extLst>
          </p:cNvPr>
          <p:cNvSpPr txBox="1"/>
          <p:nvPr/>
        </p:nvSpPr>
        <p:spPr>
          <a:xfrm>
            <a:off x="0" y="4842162"/>
            <a:ext cx="9144000" cy="276999"/>
          </a:xfrm>
          <a:prstGeom prst="rect">
            <a:avLst/>
          </a:prstGeom>
          <a:gradFill flip="none" rotWithShape="1">
            <a:gsLst>
              <a:gs pos="0">
                <a:srgbClr val="0D9488">
                  <a:tint val="66000"/>
                  <a:satMod val="160000"/>
                </a:srgbClr>
              </a:gs>
              <a:gs pos="50000">
                <a:srgbClr val="0D9488">
                  <a:tint val="44500"/>
                  <a:satMod val="160000"/>
                </a:srgbClr>
              </a:gs>
              <a:gs pos="100000">
                <a:srgbClr val="0D9488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anose="02020603050405020304" pitchFamily="18" charset="0"/>
              </a:rPr>
              <a:t>Iqra (24K-1024)	Fabiha Siddiqui (24K-1022)	 	Syeda Maha Fatima(24K-0624)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CB3F31-FA07-D0E3-E609-657449A28AFF}"/>
              </a:ext>
            </a:extLst>
          </p:cNvPr>
          <p:cNvCxnSpPr>
            <a:cxnSpLocks/>
          </p:cNvCxnSpPr>
          <p:nvPr/>
        </p:nvCxnSpPr>
        <p:spPr>
          <a:xfrm>
            <a:off x="0" y="4800905"/>
            <a:ext cx="9144000" cy="0"/>
          </a:xfrm>
          <a:prstGeom prst="line">
            <a:avLst/>
          </a:prstGeom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5212080" cy="3657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HealthSense AI?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12984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AI-driven health management system that bridges raw clinical telemetry and meaningful patient insight — all in one unified dashboard.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9202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38912" y="2176272"/>
            <a:ext cx="486460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Anaemia, Diabetes &amp; Cardiovascular Disease from biomarkers</a:t>
            </a:r>
            <a:endParaRPr lang="en-US" sz="1250" dirty="0"/>
          </a:p>
          <a:p>
            <a:pPr marL="342900" indent="-342900" algn="l">
              <a:buSzPct val="100000"/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personalised 7-day wellness protocols via Genetic Algorithm</a:t>
            </a:r>
            <a:endParaRPr lang="en-US" sz="1250" dirty="0"/>
          </a:p>
          <a:p>
            <a:pPr marL="342900" indent="-342900" algn="l">
              <a:buSzPct val="100000"/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longitudinal health trajectories with AI trendlines</a:t>
            </a:r>
            <a:endParaRPr lang="en-US" sz="1250" dirty="0"/>
          </a:p>
          <a:p>
            <a:pPr marL="342900" indent="-342900" algn="l">
              <a:buSzPct val="100000"/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NLP chatbot restricted strictly to clinical queries</a:t>
            </a:r>
            <a:endParaRPr lang="en-US" sz="1250" dirty="0"/>
          </a:p>
          <a:p>
            <a:pPr marL="342900" indent="-342900" algn="l">
              <a:buSzPct val="100000"/>
              <a:buFont typeface="Courier New" panose="02070309020205020404" pitchFamily="49" charset="0"/>
              <a:buChar char="o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backend paired with a modern, aesthetic web dashboard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0720" y="896112"/>
            <a:ext cx="1508760" cy="171907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760720" y="10789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760720" y="1719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6920" y="2011680"/>
            <a:ext cx="143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· Genetic Algorithm · 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424928" y="896112"/>
            <a:ext cx="1508760" cy="171907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424928" y="10789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424928" y="17190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24928" y="20116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60720" y="2816352"/>
            <a:ext cx="1508760" cy="171907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760720" y="299923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760720" y="3639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60720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Heart · Anaemia · Healthy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424928" y="2816352"/>
            <a:ext cx="1508760" cy="171907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7424928" y="299923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7424928" y="36393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Features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24928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· BP · Cholesterol · more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HealthSense AI  ·  FAST NUCES Karachi  ·  BCS-4J  ·  AI-2002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1325880"/>
            <a:ext cx="37947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struggle to interpret raw lab reports without expert guidance</a:t>
            </a:r>
          </a:p>
          <a:p>
            <a:pPr algn="l">
              <a:buSzPct val="100000"/>
            </a:pP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immediate post-diagnosis lifestyle recommendations available</a:t>
            </a:r>
          </a:p>
          <a:p>
            <a:pPr algn="l">
              <a:buSzPct val="100000"/>
            </a:pP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visualise whether health is improving or worsening over time</a:t>
            </a:r>
          </a:p>
          <a:p>
            <a:pPr algn="l">
              <a:buSzPct val="100000"/>
            </a:pP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clinical software uses rigid rule-based logic that misses complex biomarker relationships</a:t>
            </a:r>
          </a:p>
          <a:p>
            <a:pPr algn="l">
              <a:buSzPct val="100000"/>
            </a:pPr>
            <a:endParaRPr lang="en-US" sz="1250" dirty="0"/>
          </a:p>
          <a:p>
            <a:pPr marL="342900" indent="-342900" algn="l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care is often neglected until conditions become severe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8686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663440" y="868680"/>
            <a:ext cx="4206240" cy="3657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828032" y="868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Achieved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28032" y="13533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Diagnostics: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classifiers on 8 biomarkers to predict 4 disease classes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28032" y="20116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Tracking: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modelling to forecast biomarker trends over time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28032" y="267004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Optimisation: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 evolves an optimal 7-day diet &amp; exercise plan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28032" y="3328416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assistant (Llama-3.1) restricted exclusively to medical queries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28032" y="3986784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backend + responsive web dashboard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HealthSense AI  ·  FAST NUCES Karachi  ·  BCS-4J  ·  AI-2002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AI Techniques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01168" y="8686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01168" y="8686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29184" y="978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9184" y="126187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9184" y="1490472"/>
            <a:ext cx="253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y = mx + c to historical biomarker readings. Visualised as live Chart.js trendlines so patients see whether glucose or cholesterol is rising or falling.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45536" y="8686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145536" y="8686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273552" y="978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73552" y="126187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Classification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73552" y="1490472"/>
            <a:ext cx="253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diagnostic engine — 200 trees, max depth 10. Resistant to overfitting; delivers the final 4-class disease classification with high accuracy.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89904" y="86868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089904" y="86868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217920" y="9784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Gaussian Naïve Bayes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126187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Inference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1490472"/>
            <a:ext cx="253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percentage-based risk breakdowns (e.g. 85% Diabetes) using Bayes' Theorem with Gaussian distribution for continuous clinical variables.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01168" y="28346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201168" y="283464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329184" y="294436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Algorithm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9184" y="322783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Search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9184" y="3456432"/>
            <a:ext cx="253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generations × 20 chromosomes. Elitism + Crossover + 10% Mutation evolves the mathematically optimal 7-day meal &amp; exercise protocol in 1–2 seconds.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145536" y="28346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3145536" y="283464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3273552" y="294436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Llama-3.1 (Groq API)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73552" y="322783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NLP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273552" y="3456432"/>
            <a:ext cx="253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chatbot with engineered system prompt that enforces absolute domain restriction — declines any non-medical query automatically.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89904" y="28346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6089904" y="2834640"/>
            <a:ext cx="27889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6217920" y="294436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 + Imputation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217920" y="3227832"/>
            <a:ext cx="2532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456432"/>
            <a:ext cx="2532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fills missing values; StandardScaler normalises all features to µ=0, σ=1 so high-magnitude variables (Cholesterol) don't dominate training.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HealthSense AI  ·  FAST NUCES Karachi  ·  BCS-4J  ·  AI-2002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96112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74320" y="89611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38912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8912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" y="148132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 · API routing · user auth · Linear Regression · Groq Llama-3.1 NLP integration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36592" y="896112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736592" y="89611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901184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utils.py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01184" y="1280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Library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01184" y="148132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HEALTHY_RANGES constants · disease-to-recommendation mapping · CSV/TXT report parser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4320" y="2221992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74320" y="222199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38912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synthetic_generator.py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38912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8912" y="2807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1,000 realistic patient records via Gaussian distributions (np.random.normal) across 4 classes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36592" y="2221992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736592" y="222199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901184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data_prep.py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901184" y="2606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01184" y="2807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Median Imputation · LabelEncoder · StandardScaler normalisation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3547872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274320" y="354787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38912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train_model.py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38912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38912" y="41330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&amp; serialises Gaussian Naïve Bayes and Random Forest classifiers as .pkl artifacts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36592" y="3547872"/>
            <a:ext cx="422452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4736592" y="3547872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4901184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genetic_planner.py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4901184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901184" y="413308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TreatmentGeneticAlgorithm — fitness evaluation, crossover, 10% mutation, elitism over 50 generations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HealthSense AI  ·  FAST NUCES Karachi  ·  BCS-4J  ·  AI-2002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EAC910-6647-B74C-E61A-1760D476AB23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FD2F786-C824-9395-1125-2CE09596AA64}"/>
              </a:ext>
            </a:extLst>
          </p:cNvPr>
          <p:cNvSpPr/>
          <p:nvPr/>
        </p:nvSpPr>
        <p:spPr>
          <a:xfrm>
            <a:off x="2209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Webpage Screenshots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</a:rPr>
              <a:t> Splash Screen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809E68-9FA6-5729-DB8F-474D6228C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6" y="817094"/>
            <a:ext cx="8986387" cy="4326406"/>
          </a:xfrm>
          <a:prstGeom prst="rect">
            <a:avLst/>
          </a:prstGeom>
        </p:spPr>
      </p:pic>
      <p:sp>
        <p:nvSpPr>
          <p:cNvPr id="19" name="Shape 2">
            <a:extLst>
              <a:ext uri="{FF2B5EF4-FFF2-40B4-BE49-F238E27FC236}">
                <a16:creationId xmlns:a16="http://schemas.microsoft.com/office/drawing/2014/main" id="{60C07D96-210E-311F-40AA-16C86699C12A}"/>
              </a:ext>
            </a:extLst>
          </p:cNvPr>
          <p:cNvSpPr/>
          <p:nvPr/>
        </p:nvSpPr>
        <p:spPr>
          <a:xfrm>
            <a:off x="7094220" y="536448"/>
            <a:ext cx="200406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7492B3-4F98-8F54-B0AF-399CAE66A414}"/>
              </a:ext>
            </a:extLst>
          </p:cNvPr>
          <p:cNvSpPr txBox="1"/>
          <p:nvPr/>
        </p:nvSpPr>
        <p:spPr>
          <a:xfrm>
            <a:off x="7094220" y="617220"/>
            <a:ext cx="1744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0D9488"/>
                </a:solidFill>
              </a:rPr>
              <a:t>Either Register or Login with existing account!</a:t>
            </a:r>
          </a:p>
        </p:txBody>
      </p:sp>
    </p:spTree>
    <p:extLst>
      <p:ext uri="{BB962C8B-B14F-4D97-AF65-F5344CB8AC3E}">
        <p14:creationId xmlns:p14="http://schemas.microsoft.com/office/powerpoint/2010/main" val="3026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C81C8-2D64-8002-5923-E2FBBEB8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C6E01F-A9BF-C655-20C4-7C15FD6B3326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D44DB58-58A5-9A1D-8022-018A4B0B376A}"/>
              </a:ext>
            </a:extLst>
          </p:cNvPr>
          <p:cNvSpPr/>
          <p:nvPr/>
        </p:nvSpPr>
        <p:spPr>
          <a:xfrm>
            <a:off x="2209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Webpage Screenshots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</a:rPr>
              <a:t> Dashboard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0CB2FB-50C5-33A1-2970-E0BFA22B0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0" y="817094"/>
            <a:ext cx="8940612" cy="422977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2AD6C61-A576-7AA1-C09E-5F8AFAEFD304}"/>
              </a:ext>
            </a:extLst>
          </p:cNvPr>
          <p:cNvGrpSpPr/>
          <p:nvPr/>
        </p:nvGrpSpPr>
        <p:grpSpPr>
          <a:xfrm>
            <a:off x="6476999" y="235859"/>
            <a:ext cx="2591693" cy="1531981"/>
            <a:chOff x="5753100" y="1110713"/>
            <a:chExt cx="3223260" cy="1600200"/>
          </a:xfrm>
        </p:grpSpPr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03D51E2B-DDB4-FAD6-1582-47B8AE7EE26F}"/>
                </a:ext>
              </a:extLst>
            </p:cNvPr>
            <p:cNvSpPr/>
            <p:nvPr/>
          </p:nvSpPr>
          <p:spPr>
            <a:xfrm>
              <a:off x="5753100" y="1110713"/>
              <a:ext cx="3223260" cy="1600200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0D9488"/>
              </a:solidFill>
              <a:prstDash val="solid"/>
            </a:ln>
            <a:effectLst>
              <a:outerShdw blurRad="127000" dist="38100" dir="8100000" algn="bl" rotWithShape="0">
                <a:srgbClr val="0D9488">
                  <a:alpha val="10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6B0012-AC94-4C0F-B473-A1AEDCBACB8E}"/>
                </a:ext>
              </a:extLst>
            </p:cNvPr>
            <p:cNvSpPr txBox="1"/>
            <p:nvPr/>
          </p:nvSpPr>
          <p:spPr>
            <a:xfrm>
              <a:off x="5821680" y="1219200"/>
              <a:ext cx="30861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/>
                <a:t>Backend: </a:t>
              </a:r>
              <a:r>
                <a:rPr lang="en-GB" sz="1200" dirty="0"/>
                <a:t>Python 3..13, Flask, NumPy, Pandas, Scikit learn</a:t>
              </a:r>
            </a:p>
            <a:p>
              <a:endParaRPr lang="en-GB" sz="1200" dirty="0"/>
            </a:p>
            <a:p>
              <a:r>
                <a:rPr lang="en-GB" sz="1200" b="1" dirty="0"/>
                <a:t>Frontend: </a:t>
              </a:r>
              <a:r>
                <a:rPr lang="en-GB" sz="1200" dirty="0"/>
                <a:t>HTML, CSS, JavaScript, Chart.js</a:t>
              </a:r>
            </a:p>
            <a:p>
              <a:endParaRPr lang="en-GB" sz="1200" dirty="0"/>
            </a:p>
            <a:p>
              <a:r>
                <a:rPr lang="en-GB" sz="1200" b="1" dirty="0"/>
                <a:t>Data Storage: </a:t>
              </a:r>
              <a:r>
                <a:rPr lang="en-GB" sz="1200" dirty="0"/>
                <a:t>JSON Files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50B2EAD-DAB4-2F59-32F6-AAF1E1DA216A}"/>
              </a:ext>
            </a:extLst>
          </p:cNvPr>
          <p:cNvSpPr txBox="1"/>
          <p:nvPr/>
        </p:nvSpPr>
        <p:spPr>
          <a:xfrm>
            <a:off x="128080" y="3333603"/>
            <a:ext cx="2148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New Evaluation allows you to generate report.</a:t>
            </a:r>
          </a:p>
          <a:p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You can view history, your 7-day care plan after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365686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C70F-8D37-E3DD-0C01-AB43D9ABB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1D075F-03BF-975A-A611-2C28D29E6485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B53A2D-314C-6062-9FD7-304BE913698F}"/>
              </a:ext>
            </a:extLst>
          </p:cNvPr>
          <p:cNvSpPr/>
          <p:nvPr/>
        </p:nvSpPr>
        <p:spPr>
          <a:xfrm>
            <a:off x="251460" y="15071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Webpage Screenshots</a:t>
            </a:r>
            <a:r>
              <a:rPr lang="en-US" sz="2800" dirty="0">
                <a:solidFill>
                  <a:srgbClr val="FFFFFF"/>
                </a:solidFill>
                <a:latin typeface="Trebuchet MS" pitchFamily="34" charset="0"/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</a:rPr>
              <a:t>Evaluation &amp; Report Generation</a:t>
            </a:r>
            <a:endParaRPr lang="en-US" sz="28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043230C-23E4-DDF0-0DDE-90BE16593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8" y="822960"/>
            <a:ext cx="3616951" cy="3951252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8B3A793-347B-CFE5-B0E8-7F2C2F91B941}"/>
              </a:ext>
            </a:extLst>
          </p:cNvPr>
          <p:cNvCxnSpPr>
            <a:cxnSpLocks/>
          </p:cNvCxnSpPr>
          <p:nvPr/>
        </p:nvCxnSpPr>
        <p:spPr>
          <a:xfrm flipV="1">
            <a:off x="3192780" y="3320636"/>
            <a:ext cx="1737360" cy="1202337"/>
          </a:xfrm>
          <a:prstGeom prst="bentConnector3">
            <a:avLst/>
          </a:prstGeom>
          <a:ln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49B583D-346C-4403-6094-78B8D6285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0" y="863948"/>
            <a:ext cx="3200818" cy="422063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3E3CD61-E6F7-9F26-37EB-B48922C4A9F4}"/>
              </a:ext>
            </a:extLst>
          </p:cNvPr>
          <p:cNvSpPr txBox="1"/>
          <p:nvPr/>
        </p:nvSpPr>
        <p:spPr>
          <a:xfrm>
            <a:off x="3867149" y="2653140"/>
            <a:ext cx="120015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Either Upload CSV File or Enter Manually</a:t>
            </a:r>
          </a:p>
        </p:txBody>
      </p:sp>
    </p:spTree>
    <p:extLst>
      <p:ext uri="{BB962C8B-B14F-4D97-AF65-F5344CB8AC3E}">
        <p14:creationId xmlns:p14="http://schemas.microsoft.com/office/powerpoint/2010/main" val="2355716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1423-F687-106E-5091-3687B5474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016EB7-DBAE-7F78-7CAC-A43540C277E9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4CFE733-78C2-7591-CBA9-6A620DBB5859}"/>
              </a:ext>
            </a:extLst>
          </p:cNvPr>
          <p:cNvSpPr/>
          <p:nvPr/>
        </p:nvSpPr>
        <p:spPr>
          <a:xfrm>
            <a:off x="375531" y="166735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Webpage Screenshots</a:t>
            </a:r>
          </a:p>
          <a:p>
            <a:r>
              <a:rPr lang="en-US" sz="1200" dirty="0" err="1">
                <a:solidFill>
                  <a:srgbClr val="FFFFFF"/>
                </a:solidFill>
                <a:latin typeface="Trebuchet MS" pitchFamily="34" charset="0"/>
              </a:rPr>
              <a:t>Careplan</a:t>
            </a:r>
            <a:r>
              <a:rPr lang="en-US" sz="1200" dirty="0">
                <a:solidFill>
                  <a:srgbClr val="FFFFFF"/>
                </a:solidFill>
                <a:latin typeface="Trebuchet MS" pitchFamily="34" charset="0"/>
              </a:rPr>
              <a:t> &amp; Chatbot</a:t>
            </a:r>
            <a:endParaRPr lang="en-US" sz="28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510BD-AD1D-9024-B602-80C21F52D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734" y="1676400"/>
            <a:ext cx="3208033" cy="3352800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8D601A2-3A8D-5AB4-C506-5FAA2ABF2C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00925" y="1605915"/>
            <a:ext cx="1139190" cy="792480"/>
          </a:xfrm>
          <a:prstGeom prst="curvedConnector3">
            <a:avLst/>
          </a:prstGeom>
          <a:ln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0245D80-87BF-5B62-5B18-CBC905D2E931}"/>
              </a:ext>
            </a:extLst>
          </p:cNvPr>
          <p:cNvGrpSpPr/>
          <p:nvPr/>
        </p:nvGrpSpPr>
        <p:grpSpPr>
          <a:xfrm>
            <a:off x="6552360" y="1178004"/>
            <a:ext cx="1787590" cy="289084"/>
            <a:chOff x="5866840" y="1158716"/>
            <a:chExt cx="1787590" cy="289084"/>
          </a:xfrm>
        </p:grpSpPr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10F44ED2-D259-FC04-8B55-D9920538D627}"/>
                </a:ext>
              </a:extLst>
            </p:cNvPr>
            <p:cNvSpPr/>
            <p:nvPr/>
          </p:nvSpPr>
          <p:spPr>
            <a:xfrm>
              <a:off x="5866840" y="1173480"/>
              <a:ext cx="1760780" cy="274320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B4FD2AC-8163-D1C9-CAA5-A07F67127353}"/>
                </a:ext>
              </a:extLst>
            </p:cNvPr>
            <p:cNvSpPr txBox="1"/>
            <p:nvPr/>
          </p:nvSpPr>
          <p:spPr>
            <a:xfrm>
              <a:off x="6065100" y="1158716"/>
              <a:ext cx="15893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>
                  <a:solidFill>
                    <a:srgbClr val="0D9488"/>
                  </a:solidFill>
                </a:rPr>
                <a:t>Integrated Chat Bot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AADF1FD-339C-DF6C-C473-DE1FB8969F5C}"/>
              </a:ext>
            </a:extLst>
          </p:cNvPr>
          <p:cNvSpPr txBox="1"/>
          <p:nvPr/>
        </p:nvSpPr>
        <p:spPr>
          <a:xfrm>
            <a:off x="6750620" y="968930"/>
            <a:ext cx="1706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Domain Restricted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59B54-5D29-234C-2D1A-845DDEC0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09" y="999125"/>
            <a:ext cx="2932116" cy="397764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AA90DDE-A9E2-1BF0-17BB-83ECA365F757}"/>
              </a:ext>
            </a:extLst>
          </p:cNvPr>
          <p:cNvGrpSpPr/>
          <p:nvPr/>
        </p:nvGrpSpPr>
        <p:grpSpPr>
          <a:xfrm>
            <a:off x="3446976" y="1523414"/>
            <a:ext cx="2065868" cy="1081010"/>
            <a:chOff x="5866840" y="1173480"/>
            <a:chExt cx="1760780" cy="274320"/>
          </a:xfrm>
        </p:grpSpPr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CED08438-32E5-8184-D632-CBD6A377C44C}"/>
                </a:ext>
              </a:extLst>
            </p:cNvPr>
            <p:cNvSpPr/>
            <p:nvPr/>
          </p:nvSpPr>
          <p:spPr>
            <a:xfrm>
              <a:off x="5866840" y="1173480"/>
              <a:ext cx="1760780" cy="274320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C75756-D5AA-993F-2338-7ED961C88CE9}"/>
                </a:ext>
              </a:extLst>
            </p:cNvPr>
            <p:cNvSpPr txBox="1"/>
            <p:nvPr/>
          </p:nvSpPr>
          <p:spPr>
            <a:xfrm>
              <a:off x="5952565" y="1181771"/>
              <a:ext cx="1589330" cy="25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You can mark the cards and once all of them are completed, you earn completion protocol.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A170EC7-8FF7-24C6-3450-DB4716DCB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730" y="3352801"/>
            <a:ext cx="2714866" cy="133301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27CB009-A5A3-6C34-6B1F-F3E36A310A58}"/>
              </a:ext>
            </a:extLst>
          </p:cNvPr>
          <p:cNvCxnSpPr>
            <a:cxnSpLocks/>
          </p:cNvCxnSpPr>
          <p:nvPr/>
        </p:nvCxnSpPr>
        <p:spPr>
          <a:xfrm rot="5400000">
            <a:off x="2446396" y="2372678"/>
            <a:ext cx="1829384" cy="130861"/>
          </a:xfrm>
          <a:prstGeom prst="curvedConnector3">
            <a:avLst>
              <a:gd name="adj1" fmla="val 50000"/>
            </a:avLst>
          </a:prstGeom>
          <a:ln>
            <a:solidFill>
              <a:srgbClr val="0D94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98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Model Results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4206240" cy="3657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438912" y="868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 (data.csv)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07592"/>
          <a:ext cx="4041648" cy="324611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patient entries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(8 input + 1 label)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(Diabetes · Heart · Anaemia · Healthy)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(Comma-Separated Values)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synthetic clinical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Test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training  /  20% testing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709160" y="903732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6"/>
          <p:cNvSpPr/>
          <p:nvPr/>
        </p:nvSpPr>
        <p:spPr>
          <a:xfrm>
            <a:off x="4709160" y="868680"/>
            <a:ext cx="4160520" cy="36576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7"/>
          <p:cNvSpPr/>
          <p:nvPr/>
        </p:nvSpPr>
        <p:spPr>
          <a:xfrm>
            <a:off x="4873752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Highlights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73752" y="1325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73752" y="160020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accuracy across all 4 disease classes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false positives for severe conditions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estimators, max depth 10 — robust to overfitting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869180" y="24246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69180" y="27965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on optimal lifestyle plan in 1–2 seconds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generations × 20 chromosomes per run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Hyperglycemia → correctly assigned DASH &amp; Keto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869180" y="35372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Domain Restriction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69180" y="390296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correctly rejects all non-medical queries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engineering enforces clinical scope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HealthSense AI  ·  FAST NUCES Karachi  ·  BCS-4J  ·  AI-2002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gradFill flip="none" rotWithShape="1">
            <a:gsLst>
              <a:gs pos="0">
                <a:srgbClr val="0D9488">
                  <a:shade val="30000"/>
                  <a:satMod val="115000"/>
                </a:srgbClr>
              </a:gs>
              <a:gs pos="50000">
                <a:srgbClr val="0D9488">
                  <a:shade val="67500"/>
                  <a:satMod val="115000"/>
                </a:srgbClr>
              </a:gs>
              <a:gs pos="100000">
                <a:srgbClr val="0D9488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&amp; Future Work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896112"/>
            <a:ext cx="274320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261872" y="969264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261872" y="969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47472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 Triage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20299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clinic waiting rooms — patients input vitals on a tablet, giving doctors an immediate probabilistic health risk breakdown before consultation.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896112"/>
            <a:ext cx="274320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160520" y="969264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160520" y="969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246120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&amp; Research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20299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visual tool for students to observe how Supervised Learning, Search Agents, NLP, and Predictive Math interact in one real system.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53328" y="896112"/>
            <a:ext cx="2743200" cy="181051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D9488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7059168" y="969264"/>
            <a:ext cx="713232" cy="7132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059168" y="969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144768" y="17556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Wellness (SaaS)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44768" y="20299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SaaS for individuals to track longitudinal health and receive dynamic, AI-generated fitness and dietary regimens.</a:t>
            </a:r>
            <a:endParaRPr lang="en-US" sz="10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886882-6C12-EC9D-C1A5-113588AAF3C9}"/>
              </a:ext>
            </a:extLst>
          </p:cNvPr>
          <p:cNvGrpSpPr/>
          <p:nvPr/>
        </p:nvGrpSpPr>
        <p:grpSpPr>
          <a:xfrm>
            <a:off x="2724912" y="2871216"/>
            <a:ext cx="4206240" cy="1828800"/>
            <a:chOff x="4663440" y="2834640"/>
            <a:chExt cx="4206240" cy="1828800"/>
          </a:xfrm>
        </p:grpSpPr>
        <p:sp>
          <p:nvSpPr>
            <p:cNvPr id="24" name="Shape 21"/>
            <p:cNvSpPr/>
            <p:nvPr/>
          </p:nvSpPr>
          <p:spPr>
            <a:xfrm>
              <a:off x="4663440" y="2834640"/>
              <a:ext cx="420624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7000"/>
                </a:srgbClr>
              </a:outerShdw>
            </a:effec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Shape 22"/>
            <p:cNvSpPr/>
            <p:nvPr/>
          </p:nvSpPr>
          <p:spPr>
            <a:xfrm>
              <a:off x="4663440" y="2834640"/>
              <a:ext cx="4206240" cy="329184"/>
            </a:xfrm>
            <a:prstGeom prst="rect">
              <a:avLst/>
            </a:prstGeom>
            <a:solidFill>
              <a:srgbClr val="F0FDFA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 23"/>
            <p:cNvSpPr/>
            <p:nvPr/>
          </p:nvSpPr>
          <p:spPr>
            <a:xfrm>
              <a:off x="4828032" y="2834640"/>
              <a:ext cx="38862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9488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Future Work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4828032" y="3246120"/>
              <a:ext cx="3913632" cy="1298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EHR Integration – Interface with HL7/FHIR standards for hospital deployment</a:t>
              </a:r>
              <a:endParaRPr lang="en-US" sz="1200" dirty="0"/>
            </a:p>
            <a:p>
              <a:pPr marL="342900" indent="-342900" algn="l">
                <a:buSzPct val="100000"/>
                <a:buChar char="•"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Learning – Transition to Neural Networks for multimodal analysis (X-rays, ECG images + numerical vitals)</a:t>
              </a:r>
              <a:endParaRPr lang="en-US" sz="1200" dirty="0"/>
            </a:p>
          </p:txBody>
        </p:sp>
      </p:grpSp>
      <p:sp>
        <p:nvSpPr>
          <p:cNvPr id="28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HealthSense AI  ·  FAST NUCES Karachi  ·  BCS-4J  ·  AI-2002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995</Words>
  <Application>Microsoft Office PowerPoint</Application>
  <PresentationFormat>On-screen Show (16:9)</PresentationFormat>
  <Paragraphs>159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HealthSense AI – Precision Clinical Intelligence</dc:title>
  <dc:subject>PptxGenJS Presentation</dc:subject>
  <dc:creator>PptxGenJS</dc:creator>
  <cp:lastModifiedBy>Iqra</cp:lastModifiedBy>
  <cp:revision>3</cp:revision>
  <dcterms:created xsi:type="dcterms:W3CDTF">2026-04-28T19:23:32Z</dcterms:created>
  <dcterms:modified xsi:type="dcterms:W3CDTF">2026-04-28T20:41:35Z</dcterms:modified>
</cp:coreProperties>
</file>